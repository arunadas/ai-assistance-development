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the audience. Set expectations: a quick, fun tour of cat biology, behavior, and breeds. Timing: ~1 minute.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Establish context: cats have a long, global history with humans. Sets up the 'why should we care' framing. 1-2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Address the common misconception that cats are unaffectionate. This is the 'problem' beat before we present the science. 1-2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the sensory and physical adaptations that make cats effective hunters. Evidence beat in the narrative arc. 1-2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Equal visual weight comparison per the skill's layout guidance. Discuss tradeoffs; most vets recommend indoor or supervised outdoor access. 1-2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to 3 rows as recommended - audience can't absorb more. Mention these are just three of dozens of recognized breeds. 1-2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Light, high-energy slide to keep audience engaged before the closing. 1 minute.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call to action. Thank the audience and open the floor for questions. 1 minute.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92240" y="-1097280"/>
            <a:ext cx="3840480" cy="384048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2514600"/>
            <a:ext cx="1005840" cy="635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69748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Cats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52044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D1D5DB"/>
                </a:solidFill>
                <a:latin typeface="Calibri"/>
              </a:rPr>
              <a:t>A Field Guide to Our Favorite Feline Companions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  <a:latin typeface="Calibri"/>
              </a:rPr>
              <a:t>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1A1A1A"/>
                </a:solidFill>
                <a:latin typeface="Calibri"/>
              </a:rPr>
              <a:t>Why Cats?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822960" cy="50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7863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000"/>
              </a:spcAft>
              <a:defRPr sz="2200">
                <a:solidFill>
                  <a:srgbClr val="475569"/>
                </a:solidFill>
                <a:latin typeface="Calibri"/>
              </a:defRPr>
            </a:pPr>
            <a:r>
              <a:t>•  Domesticated for over 9,000 years</a:t>
            </a:r>
          </a:p>
          <a:p>
            <a:pPr>
              <a:lnSpc>
                <a:spcPct val="140000"/>
              </a:lnSpc>
              <a:spcAft>
                <a:spcPts val="1000"/>
              </a:spcAft>
              <a:defRPr sz="2200">
                <a:solidFill>
                  <a:srgbClr val="475569"/>
                </a:solidFill>
                <a:latin typeface="Calibri"/>
              </a:defRPr>
            </a:pPr>
            <a:r>
              <a:t>•  Live on every continent except Antarctica</a:t>
            </a:r>
          </a:p>
          <a:p>
            <a:pPr>
              <a:lnSpc>
                <a:spcPct val="140000"/>
              </a:lnSpc>
              <a:spcAft>
                <a:spcPts val="1000"/>
              </a:spcAft>
              <a:defRPr sz="2200">
                <a:solidFill>
                  <a:srgbClr val="475569"/>
                </a:solidFill>
                <a:latin typeface="Calibri"/>
              </a:defRPr>
            </a:pPr>
            <a:r>
              <a:t>•  One of the most popular pets worldwide</a:t>
            </a:r>
          </a:p>
          <a:p>
            <a:pPr>
              <a:lnSpc>
                <a:spcPct val="140000"/>
              </a:lnSpc>
              <a:spcAft>
                <a:spcPts val="1000"/>
              </a:spcAft>
              <a:defRPr sz="2200">
                <a:solidFill>
                  <a:srgbClr val="475569"/>
                </a:solidFill>
                <a:latin typeface="Calibri"/>
              </a:defRPr>
            </a:pPr>
            <a:r>
              <a:t>•  Prized for companionship and pest control</a:t>
            </a:r>
          </a:p>
          <a:p>
            <a:pPr>
              <a:lnSpc>
                <a:spcPct val="140000"/>
              </a:lnSpc>
              <a:spcAft>
                <a:spcPts val="1000"/>
              </a:spcAft>
              <a:defRPr sz="2200">
                <a:solidFill>
                  <a:srgbClr val="475569"/>
                </a:solidFill>
                <a:latin typeface="Calibri"/>
              </a:defRPr>
            </a:pPr>
            <a:r>
              <a:t>•  Rich cultural history across civilizations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Cats: A Field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CA3AF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alibri"/>
              </a:rPr>
              <a:t>The Myth of the Aloof Cat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822960" cy="50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7863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000"/>
              </a:spcAft>
              <a:defRPr sz="2200">
                <a:solidFill>
                  <a:srgbClr val="475569"/>
                </a:solidFill>
                <a:latin typeface="Calibri"/>
              </a:defRPr>
            </a:pPr>
            <a:r>
              <a:t>•  Cats are often seen as distant or unaffectionate</a:t>
            </a:r>
          </a:p>
          <a:p>
            <a:pPr>
              <a:lnSpc>
                <a:spcPct val="140000"/>
              </a:lnSpc>
              <a:spcAft>
                <a:spcPts val="1000"/>
              </a:spcAft>
              <a:defRPr sz="2200">
                <a:solidFill>
                  <a:srgbClr val="475569"/>
                </a:solidFill>
                <a:latin typeface="Calibri"/>
              </a:defRPr>
            </a:pPr>
            <a:r>
              <a:t>•  Research shows cats form real attachment bonds</a:t>
            </a:r>
          </a:p>
          <a:p>
            <a:pPr>
              <a:lnSpc>
                <a:spcPct val="140000"/>
              </a:lnSpc>
              <a:spcAft>
                <a:spcPts val="1000"/>
              </a:spcAft>
              <a:defRPr sz="2200">
                <a:solidFill>
                  <a:srgbClr val="475569"/>
                </a:solidFill>
                <a:latin typeface="Calibri"/>
              </a:defRPr>
            </a:pPr>
            <a:r>
              <a:t>•  They recognize and respond to owners' voices</a:t>
            </a:r>
          </a:p>
          <a:p>
            <a:pPr>
              <a:lnSpc>
                <a:spcPct val="140000"/>
              </a:lnSpc>
              <a:spcAft>
                <a:spcPts val="1000"/>
              </a:spcAft>
              <a:defRPr sz="2200">
                <a:solidFill>
                  <a:srgbClr val="475569"/>
                </a:solidFill>
                <a:latin typeface="Calibri"/>
              </a:defRPr>
            </a:pPr>
            <a:r>
              <a:t>•  Cats communicate needs through subtle signals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Cats: A Field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CA3AF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alibri"/>
              </a:rPr>
              <a:t>Built for the Hunt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822960" cy="50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7863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000"/>
              </a:spcAft>
              <a:defRPr sz="2200">
                <a:solidFill>
                  <a:srgbClr val="475569"/>
                </a:solidFill>
                <a:latin typeface="Calibri"/>
              </a:defRPr>
            </a:pPr>
            <a:r>
              <a:t>•  Hearing detects frequencies up to 64 kHz</a:t>
            </a:r>
          </a:p>
          <a:p>
            <a:pPr>
              <a:lnSpc>
                <a:spcPct val="140000"/>
              </a:lnSpc>
              <a:spcAft>
                <a:spcPts val="1000"/>
              </a:spcAft>
              <a:defRPr sz="2200">
                <a:solidFill>
                  <a:srgbClr val="475569"/>
                </a:solidFill>
                <a:latin typeface="Calibri"/>
              </a:defRPr>
            </a:pPr>
            <a:r>
              <a:t>•  Whiskers sense air currents and tight spaces</a:t>
            </a:r>
          </a:p>
          <a:p>
            <a:pPr>
              <a:lnSpc>
                <a:spcPct val="140000"/>
              </a:lnSpc>
              <a:spcAft>
                <a:spcPts val="1000"/>
              </a:spcAft>
              <a:defRPr sz="2200">
                <a:solidFill>
                  <a:srgbClr val="475569"/>
                </a:solidFill>
                <a:latin typeface="Calibri"/>
              </a:defRPr>
            </a:pPr>
            <a:r>
              <a:t>•  Night vision is 6x better than humans'</a:t>
            </a:r>
          </a:p>
          <a:p>
            <a:pPr>
              <a:lnSpc>
                <a:spcPct val="140000"/>
              </a:lnSpc>
              <a:spcAft>
                <a:spcPts val="1000"/>
              </a:spcAft>
              <a:defRPr sz="2200">
                <a:solidFill>
                  <a:srgbClr val="475569"/>
                </a:solidFill>
                <a:latin typeface="Calibri"/>
              </a:defRPr>
            </a:pPr>
            <a:r>
              <a:t>•  Retractable claws stay sharp for climbing</a:t>
            </a:r>
          </a:p>
          <a:p>
            <a:pPr>
              <a:lnSpc>
                <a:spcPct val="140000"/>
              </a:lnSpc>
              <a:spcAft>
                <a:spcPts val="1000"/>
              </a:spcAft>
              <a:defRPr sz="2200">
                <a:solidFill>
                  <a:srgbClr val="475569"/>
                </a:solidFill>
                <a:latin typeface="Calibri"/>
              </a:defRPr>
            </a:pPr>
            <a:r>
              <a:t>•  Flexible spine enables the righting reflex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Cats: A Field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CA3AF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alibri"/>
              </a:rPr>
              <a:t>Indoor vs. Outdoor Cats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822960" cy="50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3657600" cy="448056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663440" y="1463040"/>
            <a:ext cx="3657600" cy="448056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7C3AED"/>
                </a:solidFill>
                <a:latin typeface="Calibri"/>
              </a:rPr>
              <a:t>Indoor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31089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000"/>
              </a:spcAft>
              <a:defRPr sz="1700">
                <a:solidFill>
                  <a:srgbClr val="475569"/>
                </a:solidFill>
                <a:latin typeface="Calibri"/>
              </a:defRPr>
            </a:pPr>
            <a:r>
              <a:t>•  Average lifespan 12-18 years</a:t>
            </a:r>
          </a:p>
          <a:p>
            <a:pPr>
              <a:lnSpc>
                <a:spcPct val="140000"/>
              </a:lnSpc>
              <a:spcAft>
                <a:spcPts val="1000"/>
              </a:spcAft>
              <a:defRPr sz="1700">
                <a:solidFill>
                  <a:srgbClr val="475569"/>
                </a:solidFill>
                <a:latin typeface="Calibri"/>
              </a:defRPr>
            </a:pPr>
            <a:r>
              <a:t>•  Protected from predators and traffic</a:t>
            </a:r>
          </a:p>
          <a:p>
            <a:pPr>
              <a:lnSpc>
                <a:spcPct val="140000"/>
              </a:lnSpc>
              <a:spcAft>
                <a:spcPts val="1000"/>
              </a:spcAft>
              <a:defRPr sz="1700">
                <a:solidFill>
                  <a:srgbClr val="475569"/>
                </a:solidFill>
                <a:latin typeface="Calibri"/>
              </a:defRPr>
            </a:pPr>
            <a:r>
              <a:t>•  Lower disease exposure</a:t>
            </a:r>
          </a:p>
          <a:p>
            <a:pPr>
              <a:lnSpc>
                <a:spcPct val="140000"/>
              </a:lnSpc>
              <a:spcAft>
                <a:spcPts val="1000"/>
              </a:spcAft>
              <a:defRPr sz="1700">
                <a:solidFill>
                  <a:srgbClr val="475569"/>
                </a:solidFill>
                <a:latin typeface="Calibri"/>
              </a:defRPr>
            </a:pPr>
            <a:r>
              <a:t>•  Needs enrichment to stay active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6916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59E0B"/>
                </a:solidFill>
                <a:latin typeface="Calibri"/>
              </a:rPr>
              <a:t>Outdoor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2286000"/>
            <a:ext cx="31089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000"/>
              </a:spcAft>
              <a:defRPr sz="1700">
                <a:solidFill>
                  <a:srgbClr val="475569"/>
                </a:solidFill>
                <a:latin typeface="Calibri"/>
              </a:defRPr>
            </a:pPr>
            <a:r>
              <a:t>•  Average lifespan 2-5 years</a:t>
            </a:r>
          </a:p>
          <a:p>
            <a:pPr>
              <a:lnSpc>
                <a:spcPct val="140000"/>
              </a:lnSpc>
              <a:spcAft>
                <a:spcPts val="1000"/>
              </a:spcAft>
              <a:defRPr sz="1700">
                <a:solidFill>
                  <a:srgbClr val="475569"/>
                </a:solidFill>
                <a:latin typeface="Calibri"/>
              </a:defRPr>
            </a:pPr>
            <a:r>
              <a:t>•  More natural exercise and stimulation</a:t>
            </a:r>
          </a:p>
          <a:p>
            <a:pPr>
              <a:lnSpc>
                <a:spcPct val="140000"/>
              </a:lnSpc>
              <a:spcAft>
                <a:spcPts val="1000"/>
              </a:spcAft>
              <a:defRPr sz="1700">
                <a:solidFill>
                  <a:srgbClr val="475569"/>
                </a:solidFill>
                <a:latin typeface="Calibri"/>
              </a:defRPr>
            </a:pPr>
            <a:r>
              <a:t>•  Higher risk of injury and illness</a:t>
            </a:r>
          </a:p>
          <a:p>
            <a:pPr>
              <a:lnSpc>
                <a:spcPct val="140000"/>
              </a:lnSpc>
              <a:spcAft>
                <a:spcPts val="1000"/>
              </a:spcAft>
              <a:defRPr sz="1700">
                <a:solidFill>
                  <a:srgbClr val="475569"/>
                </a:solidFill>
                <a:latin typeface="Calibri"/>
              </a:defRPr>
            </a:pPr>
            <a:r>
              <a:t>•  Greater impact on local wildlife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Cats: A Field Guide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CA3AF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alibri"/>
              </a:rPr>
              <a:t>Popular Breeds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822960" cy="50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55448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685800">
                <a:tc>
                  <a:txBody>
                    <a:bodyPr/>
                    <a:lstStyle/>
                    <a:p>
                      <a:r>
                        <a:rPr b="1" sz="1800">
                          <a:solidFill>
                            <a:srgbClr val="FFFFFF"/>
                          </a:solidFill>
                          <a:latin typeface="Calibri"/>
                        </a:rPr>
                        <a:t>Breed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800">
                          <a:solidFill>
                            <a:srgbClr val="FFFFFF"/>
                          </a:solidFill>
                          <a:latin typeface="Calibri"/>
                        </a:rPr>
                        <a:t>Coat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800">
                          <a:solidFill>
                            <a:srgbClr val="FFFFFF"/>
                          </a:solidFill>
                          <a:latin typeface="Calibri"/>
                        </a:rPr>
                        <a:t>Temperament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475569"/>
                          </a:solidFill>
                          <a:latin typeface="Calibri"/>
                        </a:rPr>
                        <a:t>Maine Coon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475569"/>
                          </a:solidFill>
                          <a:latin typeface="Calibri"/>
                        </a:rPr>
                        <a:t>Long, shaggy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475569"/>
                          </a:solidFill>
                          <a:latin typeface="Calibri"/>
                        </a:rPr>
                        <a:t>Gentle, sociable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475569"/>
                          </a:solidFill>
                          <a:latin typeface="Calibri"/>
                        </a:rPr>
                        <a:t>Siamese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475569"/>
                          </a:solidFill>
                          <a:latin typeface="Calibri"/>
                        </a:rPr>
                        <a:t>Short, sleek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475569"/>
                          </a:solidFill>
                          <a:latin typeface="Calibri"/>
                        </a:rPr>
                        <a:t>Vocal, energetic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475569"/>
                          </a:solidFill>
                          <a:latin typeface="Calibri"/>
                        </a:rPr>
                        <a:t>British Shorthair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475569"/>
                          </a:solidFill>
                          <a:latin typeface="Calibri"/>
                        </a:rPr>
                        <a:t>Dense, plush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475569"/>
                          </a:solidFill>
                          <a:latin typeface="Calibri"/>
                        </a:rPr>
                        <a:t>Calm, easygoing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Cats: A Field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CA3AF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alibri"/>
              </a:rPr>
              <a:t>Fun Facts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822960" cy="50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7863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000"/>
              </a:spcAft>
              <a:defRPr sz="2200">
                <a:solidFill>
                  <a:srgbClr val="475569"/>
                </a:solidFill>
                <a:latin typeface="Calibri"/>
              </a:defRPr>
            </a:pPr>
            <a:r>
              <a:t>•  Cats spend 70% of their lives asleep</a:t>
            </a:r>
          </a:p>
          <a:p>
            <a:pPr>
              <a:lnSpc>
                <a:spcPct val="140000"/>
              </a:lnSpc>
              <a:spcAft>
                <a:spcPts val="1000"/>
              </a:spcAft>
              <a:defRPr sz="2200">
                <a:solidFill>
                  <a:srgbClr val="475569"/>
                </a:solidFill>
                <a:latin typeface="Calibri"/>
              </a:defRPr>
            </a:pPr>
            <a:r>
              <a:t>•  A group of cats is called a clowder</a:t>
            </a:r>
          </a:p>
          <a:p>
            <a:pPr>
              <a:lnSpc>
                <a:spcPct val="140000"/>
              </a:lnSpc>
              <a:spcAft>
                <a:spcPts val="1000"/>
              </a:spcAft>
              <a:defRPr sz="2200">
                <a:solidFill>
                  <a:srgbClr val="475569"/>
                </a:solidFill>
                <a:latin typeface="Calibri"/>
              </a:defRPr>
            </a:pPr>
            <a:r>
              <a:t>•  Purring may occur at frequencies that promote healing</a:t>
            </a:r>
          </a:p>
          <a:p>
            <a:pPr>
              <a:lnSpc>
                <a:spcPct val="140000"/>
              </a:lnSpc>
              <a:spcAft>
                <a:spcPts val="1000"/>
              </a:spcAft>
              <a:defRPr sz="2200">
                <a:solidFill>
                  <a:srgbClr val="475569"/>
                </a:solidFill>
                <a:latin typeface="Calibri"/>
              </a:defRPr>
            </a:pPr>
            <a:r>
              <a:t>•  Cats can rotate their ears 180 degrees</a:t>
            </a:r>
          </a:p>
          <a:p>
            <a:pPr>
              <a:lnSpc>
                <a:spcPct val="140000"/>
              </a:lnSpc>
              <a:spcAft>
                <a:spcPts val="1000"/>
              </a:spcAft>
              <a:defRPr sz="2200">
                <a:solidFill>
                  <a:srgbClr val="475569"/>
                </a:solidFill>
                <a:latin typeface="Calibri"/>
              </a:defRPr>
            </a:pPr>
            <a:r>
              <a:t>•  No two cats have identical nose prints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Cats: A Field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CA3AF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4114800"/>
            <a:ext cx="3657600" cy="36576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Adopt, Don't Shop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38328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D1D5DB"/>
                </a:solidFill>
                <a:latin typeface="Calibri"/>
              </a:rPr>
              <a:t>Millions of cats are waiting in shelters for a home.</a:t>
            </a:r>
            <a:br/>
            <a:r>
              <a:t>Consider adoption for your next companion.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0350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9CA3AF"/>
                </a:solidFill>
                <a:latin typeface="Calibri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